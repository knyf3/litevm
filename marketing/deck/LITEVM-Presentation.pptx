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-1097280"/>
            <a:ext cx="3657600" cy="3657600"/>
          </a:xfrm>
          <a:prstGeom prst="ellipse">
            <a:avLst/>
          </a:prstGeom>
          <a:solidFill>
            <a:srgbClr val="4361E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3474720"/>
            <a:ext cx="3200400" cy="3200400"/>
          </a:xfrm>
          <a:prstGeom prst="ellipse">
            <a:avLst/>
          </a:prstGeom>
          <a:solidFill>
            <a:srgbClr val="4361EE">
              <a:alpha val="12000"/>
            </a:srgbClr>
          </a:solidFill>
          <a:ln/>
        </p:spPr>
      </p:sp>
      <p:pic>
        <p:nvPicPr>
          <p:cNvPr id="5" name="Image 0" descr="/home/hermes/projects/LITEVM/marketing/screenshots/04-registration-resul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20840" y="822960"/>
            <a:ext cx="2286000" cy="49469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00584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LITEVM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822960" y="18745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Visitor Management Reimagined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22960" y="260604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pre-registration · QR check-in · Photo verification · Real-time reporting — from Rp 50K/month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4297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Fenky Tjhang  ·  August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Visitor management is still stuck in the paper age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78638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F172A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9280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63040" y="185623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logbooks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2148840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records, illegible handwriting, zero audit trail, no identity proof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78638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F172A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276148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⏱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463040" y="272491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queues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63040" y="3017520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lookup and phone calls at every entry — visitors and guards both wait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520440"/>
            <a:ext cx="78638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F172A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363016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463040" y="359359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risk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63040" y="3886200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Indonesia UU PDP (2024) effectively outlaws unmanaged paper visitor logs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389120"/>
            <a:ext cx="78638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F172A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449884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463040" y="446227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pricing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63040" y="4754880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SaaS starts at USD 29–362 per location/month — far beyond SME reach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Introducing LITEVM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lightweight, mobile-first visitor management system built for SEA businesses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2514600" cy="1280160"/>
          </a:xfrm>
          <a:prstGeom prst="rect">
            <a:avLst/>
          </a:prstGeom>
          <a:solidFill>
            <a:srgbClr val="243A7D"/>
          </a:solidFill>
          <a:ln/>
          <a:effectLst>
            <a:outerShdw sx="100000" sy="100000" kx="0" ky="0" algn="bl" rotWithShape="0" blurRad="127000" dist="50800" dir="8100000">
              <a:srgbClr val="0F172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9280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Visitor pre-registration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25603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Visitors register from any phone — before they arrive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1783080"/>
            <a:ext cx="2514600" cy="1280160"/>
          </a:xfrm>
          <a:prstGeom prst="rect">
            <a:avLst/>
          </a:prstGeom>
          <a:solidFill>
            <a:srgbClr val="243A7D"/>
          </a:solidFill>
          <a:ln/>
          <a:effectLst>
            <a:outerShdw sx="100000" sy="100000" kx="0" ky="0" algn="bl" rotWithShape="0" blurRad="127000" dist="50800" dir="8100000">
              <a:srgbClr val="0F172A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0" y="189280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🎫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74720" y="22402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QR-based check-in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474720" y="25603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the QR at the gate; guard verifies identity in seconds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1783080"/>
            <a:ext cx="2514600" cy="1280160"/>
          </a:xfrm>
          <a:prstGeom prst="rect">
            <a:avLst/>
          </a:prstGeom>
          <a:solidFill>
            <a:srgbClr val="243A7D"/>
          </a:solidFill>
          <a:ln/>
          <a:effectLst>
            <a:outerShdw sx="100000" sy="100000" kx="0" ky="0" algn="bl" rotWithShape="0" blurRad="127000" dist="50800" dir="8100000">
              <a:srgbClr val="0F172A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72200" y="189280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📸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172200" y="22402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 verification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172200" y="25603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card + selfie captured at registration, compared at entry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3200400"/>
            <a:ext cx="2514600" cy="1280160"/>
          </a:xfrm>
          <a:prstGeom prst="rect">
            <a:avLst/>
          </a:prstGeom>
          <a:solidFill>
            <a:srgbClr val="243A7D"/>
          </a:solidFill>
          <a:ln/>
          <a:effectLst>
            <a:outerShdw sx="100000" sy="100000" kx="0" ky="0" algn="bl" rotWithShape="0" blurRad="127000" dist="50800" dir="8100000">
              <a:srgbClr val="0F172A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331012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77240" y="365760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reports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77240" y="39776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Auto-generated visitor logs, exportable to CSV / PDF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37560" y="3200400"/>
            <a:ext cx="2514600" cy="1280160"/>
          </a:xfrm>
          <a:prstGeom prst="rect">
            <a:avLst/>
          </a:prstGeom>
          <a:solidFill>
            <a:srgbClr val="243A7D"/>
          </a:solidFill>
          <a:ln/>
          <a:effectLst>
            <a:outerShdw sx="100000" sy="100000" kx="0" ky="0" algn="bl" rotWithShape="0" blurRad="127000" dist="50800" dir="8100000">
              <a:srgbClr val="0F172A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0" y="331012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📧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474720" y="365760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confirmations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3474720" y="39776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Visitor number and confirmations delivered to any inbox — zero training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35040" y="3200400"/>
            <a:ext cx="2514600" cy="1280160"/>
          </a:xfrm>
          <a:prstGeom prst="rect">
            <a:avLst/>
          </a:prstGeom>
          <a:solidFill>
            <a:srgbClr val="243A7D"/>
          </a:solidFill>
          <a:ln/>
          <a:effectLst>
            <a:outerShdw sx="100000" sy="100000" kx="0" ky="0" algn="bl" rotWithShape="0" blurRad="127000" dist="50800" dir="8100000">
              <a:srgbClr val="0F172A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72200" y="331012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🔑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172200" y="365760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Pro integration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172200" y="39776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Auto-grant / revoke door access rights on check-in and sign-out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steps from visitor to verified entry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02920" cy="502920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7373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Pre-Register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71600" y="2084832"/>
            <a:ext cx="7040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Visitor scans the QR at the lobby or opens the link. Fills details, captures ID + selfie, selects destination. Receives a unique visitor number via email.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502920" cy="502920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788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Arrive &amp; Show QR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371600" y="3136392"/>
            <a:ext cx="7040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Visitor presents the QR code at the gate. The guard looks up the number instantly.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886200"/>
            <a:ext cx="502920" cy="502920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3840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&amp; Check-In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371600" y="4187952"/>
            <a:ext cx="7040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 matches the ID photo and selfie against the person. One tap to check in; rights auto-granted if ACT Pro is connected. Auto sign-out at end of day.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Visitors Register in Under a Minute</a:t>
            </a:r>
            <a:endParaRPr lang="en-US" sz="3000" dirty="0"/>
          </a:p>
        </p:txBody>
      </p:sp>
      <p:pic>
        <p:nvPicPr>
          <p:cNvPr id="4" name="Image 0" descr="/home/hermes/projects/LITEVM/marketing/screenshots/01-registration-for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188720"/>
            <a:ext cx="1645920" cy="3566160"/>
          </a:xfrm>
          <a:prstGeom prst="rect">
            <a:avLst/>
          </a:prstGeom>
        </p:spPr>
      </p:pic>
      <p:pic>
        <p:nvPicPr>
          <p:cNvPr id="5" name="Image 1" descr="/home/hermes/projects/LITEVM/marketing/screenshots/02-photos-uploa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749040" y="1188720"/>
            <a:ext cx="1645920" cy="3566160"/>
          </a:xfrm>
          <a:prstGeom prst="rect">
            <a:avLst/>
          </a:prstGeom>
        </p:spPr>
      </p:pic>
      <p:pic>
        <p:nvPicPr>
          <p:cNvPr id="6" name="Image 2" descr="/home/hermes/projects/LITEVM/marketing/screenshots/04-registration-result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675120" y="1188720"/>
            <a:ext cx="1645920" cy="356616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40080" y="4800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 → Photos → QR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Guards Verify in Seconds</a:t>
            </a:r>
            <a:endParaRPr lang="en-US" sz="3000" dirty="0"/>
          </a:p>
        </p:txBody>
      </p:sp>
      <p:pic>
        <p:nvPicPr>
          <p:cNvPr id="4" name="Image 0" descr="/home/hermes/projects/LITEVM/marketing/screenshots/05-guard-p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188720"/>
            <a:ext cx="1645920" cy="3566160"/>
          </a:xfrm>
          <a:prstGeom prst="rect">
            <a:avLst/>
          </a:prstGeom>
        </p:spPr>
      </p:pic>
      <p:pic>
        <p:nvPicPr>
          <p:cNvPr id="5" name="Image 1" descr="/home/hermes/projects/LITEVM/marketing/screenshots/06-guard-today-lis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749040" y="1188720"/>
            <a:ext cx="1645920" cy="3566160"/>
          </a:xfrm>
          <a:prstGeom prst="rect">
            <a:avLst/>
          </a:prstGeom>
        </p:spPr>
      </p:pic>
      <p:pic>
        <p:nvPicPr>
          <p:cNvPr id="6" name="Image 2" descr="/home/hermes/projects/LITEVM/marketing/screenshots/07-guard-lookup-result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675120" y="1188720"/>
            <a:ext cx="1645920" cy="356616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40080" y="4800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PIN-gated portal · Today's list · Photo verification · One-tap check-in / reject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&amp; Audit Trail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visit logged, searchable, and exportable</a:t>
            </a:r>
            <a:endParaRPr lang="en-US" sz="1700" dirty="0"/>
          </a:p>
        </p:txBody>
      </p:sp>
      <p:pic>
        <p:nvPicPr>
          <p:cNvPr id="4" name="Image 0" descr="/home/hermes/projects/LITEVM/marketing/screenshots/08-repor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37360"/>
            <a:ext cx="7863840" cy="44256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That Any Business Can Afford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3–36× cheaper than the cheapest global competitor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8288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F172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8928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36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2402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36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49808" y="2926080"/>
            <a:ext cx="16093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36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location · 50 visitors/mo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" y="3840480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36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 today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651760" y="1783080"/>
            <a:ext cx="1828800" cy="2743200"/>
          </a:xfrm>
          <a:prstGeom prst="rect">
            <a:avLst/>
          </a:prstGeom>
          <a:solidFill>
            <a:srgbClr val="4361EE"/>
          </a:solidFill>
          <a:ln/>
          <a:effectLst>
            <a:outerShdw sx="100000" sy="100000" kx="0" ky="0" algn="bl" rotWithShape="0" blurRad="127000" dist="50800" dir="8100000">
              <a:srgbClr val="0F172A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51760" y="18928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97480" y="22402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50K/mo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761488" y="2926080"/>
            <a:ext cx="16093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location · 500 visitors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61488" y="3840480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USD 3.30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1783080"/>
            <a:ext cx="1828800" cy="2743200"/>
          </a:xfrm>
          <a:prstGeom prst="rect">
            <a:avLst/>
          </a:prstGeom>
          <a:solidFill>
            <a:srgbClr val="16A34A"/>
          </a:solidFill>
          <a:ln/>
          <a:effectLst>
            <a:outerShdw sx="100000" sy="100000" kx="0" ky="0" algn="bl" rotWithShape="0" blurRad="127000" dist="50800" dir="8100000">
              <a:srgbClr val="0F172A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63440" y="18928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09160" y="22402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150K/mo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773168" y="2926080"/>
            <a:ext cx="16093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location · unlimited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73168" y="3840480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USD 10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675120" y="1783080"/>
            <a:ext cx="1828800" cy="2743200"/>
          </a:xfrm>
          <a:prstGeom prst="rect">
            <a:avLst/>
          </a:prstGeom>
          <a:solidFill>
            <a:srgbClr val="243A7D"/>
          </a:solidFill>
          <a:ln/>
          <a:effectLst>
            <a:outerShdw sx="100000" sy="100000" kx="0" ky="0" algn="bl" rotWithShape="0" blurRad="127000" dist="50800" dir="8100000">
              <a:srgbClr val="0F172A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675120" y="18928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Multi-Site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20840" y="22402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100K/site/mo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784848" y="2926080"/>
            <a:ext cx="16093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3+ locations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84848" y="3840480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pricing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0080" y="47091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Envoy USD 362 · Sine USD 69–199 · SwipedOn USD 29–99 per location/month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 — SEA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tailwind meets massive under-served demand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8862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F172A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6596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36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377440" y="20116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delivery — every visitor number and confirmation lands in the inbox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1783080"/>
            <a:ext cx="38862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F172A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96596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36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100M+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446520" y="20116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Visitors logged on paper daily across SEA apartments, offices, schools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337560"/>
            <a:ext cx="38862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F172A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352044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36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377440" y="356616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UU PDP passes — paper visitor logs become a legal liability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9160" y="3337560"/>
            <a:ext cx="38862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F172A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352044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36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150K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446520" y="356616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USD 10/month — less than a takeout meal for a full VMS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Business Built to Scale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886200" cy="1325880"/>
          </a:xfrm>
          <a:prstGeom prst="rect">
            <a:avLst/>
          </a:prstGeom>
          <a:solidFill>
            <a:srgbClr val="243A7D"/>
          </a:solidFill>
          <a:ln/>
          <a:effectLst>
            <a:outerShdw sx="100000" sy="100000" kx="0" ky="0" algn="bl" rotWithShape="0" blurRad="127000" dist="50800" dir="8100000">
              <a:srgbClr val="0F172A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3736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98–99%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56032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Near-zero marginal cost per customer on Google infrastructure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1600200"/>
            <a:ext cx="3886200" cy="1325880"/>
          </a:xfrm>
          <a:prstGeom prst="rect">
            <a:avLst/>
          </a:prstGeom>
          <a:solidFill>
            <a:srgbClr val="243A7D"/>
          </a:solidFill>
          <a:ln/>
          <a:effectLst>
            <a:outerShdw sx="100000" sy="100000" kx="0" ky="0" algn="bl" rotWithShape="0" blurRad="127000" dist="50800" dir="8100000">
              <a:srgbClr val="0F172A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73736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937760" y="228600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to break even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256032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Reached in month 4–5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3108960"/>
            <a:ext cx="3886200" cy="1325880"/>
          </a:xfrm>
          <a:prstGeom prst="rect">
            <a:avLst/>
          </a:prstGeom>
          <a:solidFill>
            <a:srgbClr val="243A7D"/>
          </a:solidFill>
          <a:ln/>
          <a:effectLst>
            <a:outerShdw sx="100000" sy="100000" kx="0" ky="0" algn="bl" rotWithShape="0" blurRad="127000" dist="50800" dir="8100000">
              <a:srgbClr val="0F172A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324612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30M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68680" y="379476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Y1 MRR target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406908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USD 2K/month at 300 customers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3108960"/>
            <a:ext cx="3886200" cy="1325880"/>
          </a:xfrm>
          <a:prstGeom prst="rect">
            <a:avLst/>
          </a:prstGeom>
          <a:solidFill>
            <a:srgbClr val="243A7D"/>
          </a:solidFill>
          <a:ln/>
          <a:effectLst>
            <a:outerShdw sx="100000" sy="100000" kx="0" ky="0" algn="bl" rotWithShape="0" blurRad="127000" dist="50800" dir="8100000">
              <a:srgbClr val="0F172A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324612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937760" y="379476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ICP segments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406908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Apartments · SME offices · co-working · schools · ACT integrators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LITEVM Wins</a:t>
            </a:r>
            <a:endParaRPr lang="en-US" sz="3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78638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834640"/>
                <a:gridCol w="2834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LITEVM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6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Global SaaS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5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 / location / mo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50–150K  (USD 3–10)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USD 29–362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Setup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Template copy → live in a day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Onboarding, integrations, contracts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Email-based, zero training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Apps, hardware, dedicated staff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 Pro (dominant in Indonesia)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Enterprise access control brands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Language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/ ID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first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-1097280"/>
            <a:ext cx="3657600" cy="3657600"/>
          </a:xfrm>
          <a:prstGeom prst="ellipse">
            <a:avLst/>
          </a:prstGeom>
          <a:solidFill>
            <a:srgbClr val="4361E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3474720"/>
            <a:ext cx="3200400" cy="3200400"/>
          </a:xfrm>
          <a:prstGeom prst="ellipse">
            <a:avLst/>
          </a:prstGeom>
          <a:solidFill>
            <a:srgbClr val="4361EE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18872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LITEVM Today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plan available — live demo at knyf3.github.io/LITEVM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Rp 50K/month · 3–36× cheaper than global competitors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3474720"/>
            <a:ext cx="3108960" cy="594360"/>
          </a:xfrm>
          <a:prstGeom prst="roundRect">
            <a:avLst>
              <a:gd name="adj" fmla="val 18462"/>
            </a:avLst>
          </a:prstGeom>
          <a:solidFill>
            <a:srgbClr val="4361EE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47472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Fenky Tjhang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416052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ft@structureresearch.io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LITEVM — Visitor Management Reimagined</dc:title>
  <dc:subject>PptxGenJS Presentation</dc:subject>
  <dc:creator>Fenky Tjhang</dc:creator>
  <cp:lastModifiedBy>Fenky Tjhang</cp:lastModifiedBy>
  <cp:revision>1</cp:revision>
  <dcterms:created xsi:type="dcterms:W3CDTF">2026-08-01T12:52:36Z</dcterms:created>
  <dcterms:modified xsi:type="dcterms:W3CDTF">2026-08-01T12:52:36Z</dcterms:modified>
</cp:coreProperties>
</file>